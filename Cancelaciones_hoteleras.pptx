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362" autoAdjust="0"/>
  </p:normalViewPr>
  <p:slideViewPr>
    <p:cSldViewPr snapToGrid="0">
      <p:cViewPr varScale="1">
        <p:scale>
          <a:sx n="110" d="100"/>
          <a:sy n="110" d="100"/>
        </p:scale>
        <p:origin x="594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Tasa de cancelación</c:v>
          </c:tx>
          <c:spPr>
            <a:solidFill>
              <a:srgbClr val="117E8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725" b="1">
                    <a:solidFill>
                      <a:srgbClr val="16313D"/>
                    </a:solidFill>
                    <a:latin typeface="Bitstream Charter"/>
                    <a:ea typeface="Bitstream Charter"/>
                    <a:cs typeface="Bitstream Charter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'Chart Data'!$A$2:$A$7</c:f>
              <c:strCache>
                <c:ptCount val="6"/>
                <c:pt idx="0">
                  <c:v>0–7</c:v>
                </c:pt>
                <c:pt idx="1">
                  <c:v>8–30</c:v>
                </c:pt>
                <c:pt idx="2">
                  <c:v>31–90</c:v>
                </c:pt>
                <c:pt idx="3">
                  <c:v>91–180</c:v>
                </c:pt>
                <c:pt idx="4">
                  <c:v>181–365</c:v>
                </c:pt>
                <c:pt idx="5">
                  <c:v>Más de 365</c:v>
                </c:pt>
              </c:strCache>
            </c:strRef>
          </c:cat>
          <c:val>
            <c:numRef>
              <c:f>'Chart Data'!$B$2:$B$7</c:f>
              <c:numCache>
                <c:formatCode>0%</c:formatCode>
                <c:ptCount val="6"/>
                <c:pt idx="0">
                  <c:v>9.6000000000000002E-2</c:v>
                </c:pt>
                <c:pt idx="1">
                  <c:v>0.2787</c:v>
                </c:pt>
                <c:pt idx="2">
                  <c:v>0.37740000000000001</c:v>
                </c:pt>
                <c:pt idx="3">
                  <c:v>0.44750000000000001</c:v>
                </c:pt>
                <c:pt idx="4">
                  <c:v>0.55449999999999999</c:v>
                </c:pt>
                <c:pt idx="5">
                  <c:v>0.6764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DC0-4767-80F4-D28CBAE6E3A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8"/>
          <c:min val="0"/>
        </c:scaling>
        <c:delete val="0"/>
        <c:axPos val="l"/>
        <c:majorGridlines>
          <c:spPr>
            <a:ln w="9525">
              <a:solidFill>
                <a:srgbClr val="D8E1DF"/>
              </a:solidFill>
            </a:ln>
          </c:spPr>
        </c:majorGridlines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defRPr>
            </a:pPr>
            <a:endParaRPr lang="es-ES"/>
          </a:p>
        </c:txPr>
        <c:crossAx val="48650112"/>
        <c:crosses val="autoZero"/>
        <c:crossBetween val="between"/>
      </c:valAx>
      <c:spPr>
        <a:solidFill>
          <a:srgbClr val="F6F7F3"/>
        </a:solidFill>
      </c:spPr>
    </c:plotArea>
    <c:plotVisOnly val="1"/>
    <c:dispBlanksAs val="zero"/>
    <c:showDLblsOverMax val="1"/>
  </c:chart>
  <c:spPr>
    <a:solidFill>
      <a:srgbClr val="F6F7F3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Caída media AUC</c:v>
          </c:tx>
          <c:spPr>
            <a:solidFill>
              <a:srgbClr val="117E8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725" b="1">
                    <a:solidFill>
                      <a:srgbClr val="16313D"/>
                    </a:solidFill>
                    <a:latin typeface="Bitstream Charter"/>
                    <a:ea typeface="Bitstream Charter"/>
                    <a:cs typeface="Bitstream Charter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'Chart Data'!$A$2:$A$6</c:f>
              <c:strCache>
                <c:ptCount val="5"/>
                <c:pt idx="0">
                  <c:v>Aparcamiento</c:v>
                </c:pt>
                <c:pt idx="1">
                  <c:v>Antelación</c:v>
                </c:pt>
                <c:pt idx="2">
                  <c:v>Tipo de depósito</c:v>
                </c:pt>
                <c:pt idx="3">
                  <c:v>Agencia</c:v>
                </c:pt>
                <c:pt idx="4">
                  <c:v>País de origen</c:v>
                </c:pt>
              </c:strCache>
            </c:strRef>
          </c:cat>
          <c:val>
            <c:numRef>
              <c:f>'Chart Data'!$B$2:$B$6</c:f>
              <c:numCache>
                <c:formatCode>0.000</c:formatCode>
                <c:ptCount val="5"/>
                <c:pt idx="0">
                  <c:v>3.4200000000000001E-2</c:v>
                </c:pt>
                <c:pt idx="1">
                  <c:v>3.6900000000000002E-2</c:v>
                </c:pt>
                <c:pt idx="2">
                  <c:v>7.2099999999999997E-2</c:v>
                </c:pt>
                <c:pt idx="3">
                  <c:v>8.4900000000000003E-2</c:v>
                </c:pt>
                <c:pt idx="4">
                  <c:v>9.3700000000000006E-2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81E-44B0-8857-3654AE28BAC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8E1DF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425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0.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defRPr>
            </a:pPr>
            <a:endParaRPr lang="es-ES"/>
          </a:p>
        </c:txPr>
        <c:crossAx val="48650112"/>
        <c:crosses val="autoZero"/>
        <c:crossBetween val="between"/>
      </c:valAx>
      <c:spPr>
        <a:solidFill>
          <a:srgbClr val="F6F7F3"/>
        </a:solidFill>
      </c:spPr>
    </c:plotArea>
    <c:plotVisOnly val="1"/>
    <c:dispBlanksAs val="zero"/>
    <c:showDLblsOverMax val="1"/>
  </c:chart>
  <c:spPr>
    <a:solidFill>
      <a:srgbClr val="F6F7F3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AFD59835-6AE8-4AEE-81AD-5EDBEEE329C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400" b="1" dirty="0" err="1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Predicción</a:t>
            </a:r>
            <a:r>
              <a:rPr sz="4400" b="1" dirty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 de </a:t>
            </a:r>
            <a:r>
              <a:rPr sz="4400" b="1" dirty="0" err="1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cancelaciones</a:t>
            </a:r>
            <a:r>
              <a:rPr sz="4400" b="1" dirty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4400" b="1" dirty="0" err="1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hoteleras</a:t>
            </a:r>
            <a:endParaRPr sz="4400" b="1" dirty="0">
              <a:solidFill>
                <a:srgbClr val="16313D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F2E7FFC-F161-4AE4-A654-C2C048C94B0F}"/>
              </a:ext>
            </a:extLst>
          </p:cNvPr>
          <p:cNvSpPr>
            <a:spLocks noGrp="1"/>
          </p:cNvSpPr>
          <p:nvPr/>
        </p:nvSpPr>
        <p:spPr>
          <a:xfrm>
            <a:off x="11191875" y="631507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3859ED0-311C-4DBD-8E9F-BE90F0B3FA55}"/>
              </a:ext>
            </a:extLst>
          </p:cNvPr>
          <p:cNvSpPr>
            <a:spLocks noGrp="1"/>
          </p:cNvSpPr>
          <p:nvPr/>
        </p:nvSpPr>
        <p:spPr>
          <a:xfrm>
            <a:off x="685800" y="1648828"/>
            <a:ext cx="4857750" cy="1714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900" b="1">
                <a:solidFill>
                  <a:srgbClr val="117E8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900" b="1" dirty="0">
                <a:solidFill>
                  <a:srgbClr val="117E83"/>
                </a:solidFill>
                <a:latin typeface="Bitstream Charter"/>
                <a:ea typeface="Bitstream Charter"/>
                <a:cs typeface="Bitstream Charter"/>
              </a:rPr>
              <a:t>37 %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90772A0-56BB-47A7-8589-2804A31A9DAA}"/>
              </a:ext>
            </a:extLst>
          </p:cNvPr>
          <p:cNvSpPr>
            <a:spLocks noGrp="1"/>
          </p:cNvSpPr>
          <p:nvPr/>
        </p:nvSpPr>
        <p:spPr>
          <a:xfrm>
            <a:off x="685800" y="3409950"/>
            <a:ext cx="53340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de las reservas se cancela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0514796-6345-4866-B250-75696365A1A6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60960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 dirty="0" err="1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Cerca</a:t>
            </a:r>
            <a:r>
              <a:rPr sz="2025" b="0" dirty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 de 119.000 </a:t>
            </a:r>
            <a:r>
              <a:rPr sz="2025" b="0" dirty="0" err="1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reservas</a:t>
            </a:r>
            <a:endParaRPr sz="2025" b="0" dirty="0">
              <a:solidFill>
                <a:srgbClr val="536773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025" b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 dirty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Dos </a:t>
            </a:r>
            <a:r>
              <a:rPr sz="2025" b="0" dirty="0" err="1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hoteles</a:t>
            </a:r>
            <a:r>
              <a:rPr sz="2025" b="0" dirty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 · Julio 2015 a </a:t>
            </a:r>
            <a:r>
              <a:rPr sz="2025" b="0" dirty="0" err="1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agosto</a:t>
            </a:r>
            <a:r>
              <a:rPr sz="2025" b="0" dirty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 2017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9F235F2-D2DD-45A2-9621-09CC90AD6FD9}"/>
              </a:ext>
            </a:extLst>
          </p:cNvPr>
          <p:cNvSpPr>
            <a:spLocks noGrp="1"/>
          </p:cNvSpPr>
          <p:nvPr/>
        </p:nvSpPr>
        <p:spPr>
          <a:xfrm>
            <a:off x="7620000" y="198120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2250" b="1">
                <a:solidFill>
                  <a:srgbClr val="117E8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00" b="1" dirty="0" err="1">
                <a:solidFill>
                  <a:srgbClr val="117E83"/>
                </a:solidFill>
                <a:latin typeface="Bitstream Charter"/>
                <a:ea typeface="Bitstream Charter"/>
                <a:cs typeface="Bitstream Charter"/>
              </a:rPr>
              <a:t>Objetivo</a:t>
            </a:r>
            <a:endParaRPr sz="3200" b="1" dirty="0">
              <a:solidFill>
                <a:srgbClr val="117E83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5476223-D75A-48F7-B402-E9FFCC7E8080}"/>
              </a:ext>
            </a:extLst>
          </p:cNvPr>
          <p:cNvSpPr>
            <a:spLocks noGrp="1"/>
          </p:cNvSpPr>
          <p:nvPr/>
        </p:nvSpPr>
        <p:spPr>
          <a:xfrm>
            <a:off x="7620000" y="2657475"/>
            <a:ext cx="3429000" cy="1952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2775" b="1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75" dirty="0" err="1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Identificar</a:t>
            </a:r>
            <a:r>
              <a:rPr sz="2775" dirty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2775" dirty="0" err="1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reservas</a:t>
            </a:r>
            <a:r>
              <a:rPr sz="2775" dirty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 con mayor </a:t>
            </a:r>
            <a:r>
              <a:rPr sz="2775" dirty="0" err="1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riesgo</a:t>
            </a:r>
            <a:r>
              <a:rPr sz="2775" dirty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 para </a:t>
            </a:r>
            <a:r>
              <a:rPr sz="2775" dirty="0" err="1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priorizar</a:t>
            </a:r>
            <a:r>
              <a:rPr sz="2775" dirty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2775" dirty="0" err="1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su</a:t>
            </a:r>
            <a:r>
              <a:rPr sz="2775" dirty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2775" dirty="0" err="1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seguimiento</a:t>
            </a:r>
            <a:r>
              <a:rPr sz="2775" dirty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6225AAF-BCE2-4F21-A4B4-E091E1D6AE4C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9048750" cy="652326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s-ES" sz="1500" b="0" dirty="0" smtClean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Alejandro Nortes el Rio-</a:t>
            </a:r>
            <a:r>
              <a:rPr lang="es-ES" sz="1500" b="0" dirty="0" err="1" smtClean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Hortega</a:t>
            </a:r>
            <a:endParaRPr lang="es-ES" sz="1500" b="0" dirty="0" smtClean="0">
              <a:solidFill>
                <a:srgbClr val="536773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1500" b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00" b="0" dirty="0" err="1" smtClean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Máster</a:t>
            </a:r>
            <a:r>
              <a:rPr sz="1100" b="0" dirty="0" smtClean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100" b="0" dirty="0" err="1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en</a:t>
            </a:r>
            <a:r>
              <a:rPr sz="1100" b="0" dirty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 Data Science &amp; IA · Evolve Academy</a:t>
            </a:r>
          </a:p>
        </p:txBody>
      </p:sp>
    </p:spTree>
    <p:extLst>
      <p:ext uri="{BB962C8B-B14F-4D97-AF65-F5344CB8AC3E}">
        <p14:creationId xmlns:p14="http://schemas.microsoft.com/office/powerpoint/2010/main" val="1096348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07AF8A3D-FD77-46E2-BE85-57FF2C8CC000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 dirty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La </a:t>
            </a:r>
            <a:r>
              <a:rPr sz="3300" b="1" dirty="0" err="1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cancelación</a:t>
            </a:r>
            <a:r>
              <a:rPr sz="3300" b="1" dirty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3300" b="1" dirty="0" err="1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aumenta</a:t>
            </a:r>
            <a:r>
              <a:rPr sz="3300" b="1" dirty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 con la </a:t>
            </a:r>
            <a:r>
              <a:rPr sz="3300" b="1" dirty="0" err="1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antelación</a:t>
            </a:r>
            <a:endParaRPr sz="3300" b="1" dirty="0">
              <a:solidFill>
                <a:srgbClr val="16313D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3931D65-80C9-4389-B443-7DF22DE82F22}"/>
              </a:ext>
            </a:extLst>
          </p:cNvPr>
          <p:cNvSpPr>
            <a:spLocks noGrp="1"/>
          </p:cNvSpPr>
          <p:nvPr/>
        </p:nvSpPr>
        <p:spPr>
          <a:xfrm>
            <a:off x="11191875" y="631507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82631E8-9F7A-41BE-8847-30299AF972EC}"/>
              </a:ext>
            </a:extLst>
          </p:cNvPr>
          <p:cNvSpPr>
            <a:spLocks noGrp="1"/>
          </p:cNvSpPr>
          <p:nvPr/>
        </p:nvSpPr>
        <p:spPr>
          <a:xfrm>
            <a:off x="628650" y="1438275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Tasa de cancelación según días entre reserva y llegada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590550" y="2000250"/>
          <a:ext cx="78105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0F1A9CFF-C35F-4F4A-9DC5-DA6B7442EA58}"/>
              </a:ext>
            </a:extLst>
          </p:cNvPr>
          <p:cNvSpPr>
            <a:spLocks noGrp="1"/>
          </p:cNvSpPr>
          <p:nvPr/>
        </p:nvSpPr>
        <p:spPr>
          <a:xfrm>
            <a:off x="8810625" y="2019300"/>
            <a:ext cx="2857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17E8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17E83"/>
                </a:solidFill>
                <a:latin typeface="Bitstream Charter"/>
                <a:ea typeface="Bitstream Charter"/>
                <a:cs typeface="Bitstream Charter"/>
              </a:rPr>
              <a:t>41,8 % vs. 27,7 %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0D4A27F-ED24-46A1-A85A-D9C0D65CEE1A}"/>
              </a:ext>
            </a:extLst>
          </p:cNvPr>
          <p:cNvSpPr>
            <a:spLocks noGrp="1"/>
          </p:cNvSpPr>
          <p:nvPr/>
        </p:nvSpPr>
        <p:spPr>
          <a:xfrm>
            <a:off x="8810625" y="2638425"/>
            <a:ext cx="2857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City Hotel frente a</a:t>
            </a:r>
          </a:p>
          <a:p>
            <a:pPr>
              <a:defRPr sz="1950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Resort Hotel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68BD6AF-9791-4549-AB2B-F5B8F3036902}"/>
              </a:ext>
            </a:extLst>
          </p:cNvPr>
          <p:cNvSpPr>
            <a:spLocks noGrp="1"/>
          </p:cNvSpPr>
          <p:nvPr/>
        </p:nvSpPr>
        <p:spPr>
          <a:xfrm>
            <a:off x="8810625" y="3800475"/>
            <a:ext cx="2762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17E8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17E83"/>
                </a:solidFill>
                <a:latin typeface="Bitstream Charter"/>
                <a:ea typeface="Bitstream Charter"/>
                <a:cs typeface="Bitstream Charter"/>
              </a:rPr>
              <a:t>90,8 %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0947D26-9C33-4F86-B54F-3A2C93CF62D3}"/>
              </a:ext>
            </a:extLst>
          </p:cNvPr>
          <p:cNvSpPr>
            <a:spLocks noGrp="1"/>
          </p:cNvSpPr>
          <p:nvPr/>
        </p:nvSpPr>
        <p:spPr>
          <a:xfrm>
            <a:off x="8810625" y="4467225"/>
            <a:ext cx="28575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de las cancelaciones</a:t>
            </a:r>
          </a:p>
          <a:p>
            <a:pPr>
              <a:defRPr sz="1800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procede de agencias</a:t>
            </a:r>
          </a:p>
          <a:p>
            <a:pPr>
              <a:defRPr sz="1800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y turoperadores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4D61DFD-1F1D-4D12-869D-60CB7D9B4BF2}"/>
              </a:ext>
            </a:extLst>
          </p:cNvPr>
          <p:cNvSpPr>
            <a:spLocks noGrp="1"/>
          </p:cNvSpPr>
          <p:nvPr/>
        </p:nvSpPr>
        <p:spPr>
          <a:xfrm>
            <a:off x="628650" y="5857875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itstream Charter"/>
                <a:ea typeface="Bitstream Charter"/>
                <a:cs typeface="Bitstream Charter"/>
              </a:rPr>
              <a:t>Propuesta</a:t>
            </a:r>
            <a:r>
              <a:rPr sz="2025" dirty="0">
                <a:solidFill>
                  <a:schemeClr val="tx1">
                    <a:lumMod val="65000"/>
                    <a:lumOff val="35000"/>
                  </a:schemeClr>
                </a:solidFill>
                <a:latin typeface="Bitstream Charter"/>
                <a:ea typeface="Bitstream Charter"/>
                <a:cs typeface="Bitstream Charter"/>
              </a:rPr>
              <a:t>: </a:t>
            </a:r>
            <a:r>
              <a:rPr sz="20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itstream Charter"/>
                <a:ea typeface="Bitstream Charter"/>
                <a:cs typeface="Bitstream Charter"/>
              </a:rPr>
              <a:t>probar</a:t>
            </a:r>
            <a:r>
              <a:rPr sz="2025" dirty="0">
                <a:solidFill>
                  <a:schemeClr val="tx1">
                    <a:lumMod val="65000"/>
                    <a:lumOff val="35000"/>
                  </a:schemeClr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20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itstream Charter"/>
                <a:ea typeface="Bitstream Charter"/>
                <a:cs typeface="Bitstream Charter"/>
              </a:rPr>
              <a:t>reconfirmaciones</a:t>
            </a:r>
            <a:r>
              <a:rPr sz="2025" dirty="0">
                <a:solidFill>
                  <a:schemeClr val="tx1">
                    <a:lumMod val="65000"/>
                    <a:lumOff val="35000"/>
                  </a:schemeClr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20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itstream Charter"/>
                <a:ea typeface="Bitstream Charter"/>
                <a:cs typeface="Bitstream Charter"/>
              </a:rPr>
              <a:t>en</a:t>
            </a:r>
            <a:r>
              <a:rPr sz="2025" dirty="0">
                <a:solidFill>
                  <a:schemeClr val="tx1">
                    <a:lumMod val="65000"/>
                    <a:lumOff val="35000"/>
                  </a:schemeClr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20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itstream Charter"/>
                <a:ea typeface="Bitstream Charter"/>
                <a:cs typeface="Bitstream Charter"/>
              </a:rPr>
              <a:t>reservas</a:t>
            </a:r>
            <a:r>
              <a:rPr sz="2025" dirty="0">
                <a:solidFill>
                  <a:schemeClr val="tx1">
                    <a:lumMod val="65000"/>
                    <a:lumOff val="35000"/>
                  </a:schemeClr>
                </a:solidFill>
                <a:latin typeface="Bitstream Charter"/>
                <a:ea typeface="Bitstream Charter"/>
                <a:cs typeface="Bitstream Charter"/>
              </a:rPr>
              <a:t> con </a:t>
            </a:r>
            <a:r>
              <a:rPr sz="20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itstream Charter"/>
                <a:ea typeface="Bitstream Charter"/>
                <a:cs typeface="Bitstream Charter"/>
              </a:rPr>
              <a:t>mucha</a:t>
            </a:r>
            <a:r>
              <a:rPr sz="2025" dirty="0">
                <a:solidFill>
                  <a:schemeClr val="tx1">
                    <a:lumMod val="65000"/>
                    <a:lumOff val="35000"/>
                  </a:schemeClr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20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itstream Charter"/>
                <a:ea typeface="Bitstream Charter"/>
                <a:cs typeface="Bitstream Charter"/>
              </a:rPr>
              <a:t>antelación</a:t>
            </a:r>
            <a:r>
              <a:rPr sz="2025" dirty="0">
                <a:solidFill>
                  <a:schemeClr val="tx1">
                    <a:lumMod val="65000"/>
                    <a:lumOff val="35000"/>
                  </a:schemeClr>
                </a:solidFill>
                <a:latin typeface="Bitstream Charter"/>
                <a:ea typeface="Bitstream Charter"/>
                <a:cs typeface="Bitstream Char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3069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1622486D-E071-4EBA-BC7A-672863FD9FC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Preparación y evaluación temporal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4CCBD7F-ABA1-44D8-BFEC-F4312DAE6150}"/>
              </a:ext>
            </a:extLst>
          </p:cNvPr>
          <p:cNvSpPr>
            <a:spLocks noGrp="1"/>
          </p:cNvSpPr>
          <p:nvPr/>
        </p:nvSpPr>
        <p:spPr>
          <a:xfrm>
            <a:off x="11191875" y="631507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6D8288B-C1A8-4C95-B2B5-1F5A08DCE72A}"/>
              </a:ext>
            </a:extLst>
          </p:cNvPr>
          <p:cNvSpPr>
            <a:spLocks noGrp="1"/>
          </p:cNvSpPr>
          <p:nvPr/>
        </p:nvSpPr>
        <p:spPr>
          <a:xfrm>
            <a:off x="628650" y="1514475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17E8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117E83"/>
                </a:solidFill>
                <a:latin typeface="Bitstream Charter"/>
                <a:ea typeface="Bitstream Charter"/>
                <a:cs typeface="Bitstream Charter"/>
              </a:rPr>
              <a:t>Pasos del proceso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475EF83-3AEC-49C3-9775-D329BA39CD28}"/>
              </a:ext>
            </a:extLst>
          </p:cNvPr>
          <p:cNvSpPr>
            <a:spLocks noGrp="1"/>
          </p:cNvSpPr>
          <p:nvPr/>
        </p:nvSpPr>
        <p:spPr>
          <a:xfrm>
            <a:off x="628650" y="2181225"/>
            <a:ext cx="6477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17E8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117E83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2E0B39C-6219-4744-A8AC-D41F5DE08699}"/>
              </a:ext>
            </a:extLst>
          </p:cNvPr>
          <p:cNvSpPr>
            <a:spLocks noGrp="1"/>
          </p:cNvSpPr>
          <p:nvPr/>
        </p:nvSpPr>
        <p:spPr>
          <a:xfrm>
            <a:off x="1409700" y="2181225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Limpieza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8AE82D2-CF4D-4381-9F1B-CCB5AB8F7A7D}"/>
              </a:ext>
            </a:extLst>
          </p:cNvPr>
          <p:cNvSpPr>
            <a:spLocks noGrp="1"/>
          </p:cNvSpPr>
          <p:nvPr/>
        </p:nvSpPr>
        <p:spPr>
          <a:xfrm>
            <a:off x="4857750" y="2181225"/>
            <a:ext cx="638175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Nulos y revisión de registros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1010E2F-6CEA-4C51-A9C1-5E51F108C7B6}"/>
              </a:ext>
            </a:extLst>
          </p:cNvPr>
          <p:cNvSpPr>
            <a:spLocks noGrp="1"/>
          </p:cNvSpPr>
          <p:nvPr/>
        </p:nvSpPr>
        <p:spPr>
          <a:xfrm>
            <a:off x="628650" y="3038475"/>
            <a:ext cx="6477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17E8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117E83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E7B94C3-449C-4754-A9C5-9F2401411086}"/>
              </a:ext>
            </a:extLst>
          </p:cNvPr>
          <p:cNvSpPr>
            <a:spLocks noGrp="1"/>
          </p:cNvSpPr>
          <p:nvPr/>
        </p:nvSpPr>
        <p:spPr>
          <a:xfrm>
            <a:off x="1409700" y="3038475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Información disponible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2800136-A00E-4314-9844-883861220EDC}"/>
              </a:ext>
            </a:extLst>
          </p:cNvPr>
          <p:cNvSpPr>
            <a:spLocks noGrp="1"/>
          </p:cNvSpPr>
          <p:nvPr/>
        </p:nvSpPr>
        <p:spPr>
          <a:xfrm>
            <a:off x="4857750" y="3038475"/>
            <a:ext cx="638175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Exclusión de variables que revelan el resultado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D702AC7-CC30-48A9-B247-4B034A601C3A}"/>
              </a:ext>
            </a:extLst>
          </p:cNvPr>
          <p:cNvSpPr>
            <a:spLocks noGrp="1"/>
          </p:cNvSpPr>
          <p:nvPr/>
        </p:nvSpPr>
        <p:spPr>
          <a:xfrm>
            <a:off x="628650" y="3895725"/>
            <a:ext cx="6477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17E8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117E83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3E5E57-45A7-418B-B0D6-D2548A73A25D}"/>
              </a:ext>
            </a:extLst>
          </p:cNvPr>
          <p:cNvSpPr>
            <a:spLocks noGrp="1"/>
          </p:cNvSpPr>
          <p:nvPr/>
        </p:nvSpPr>
        <p:spPr>
          <a:xfrm>
            <a:off x="1409700" y="3895725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Nuevas variables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559358A-6A7D-4E24-B17D-5DD5FFAB45C8}"/>
              </a:ext>
            </a:extLst>
          </p:cNvPr>
          <p:cNvSpPr>
            <a:spLocks noGrp="1"/>
          </p:cNvSpPr>
          <p:nvPr/>
        </p:nvSpPr>
        <p:spPr>
          <a:xfrm>
            <a:off x="4857750" y="3895725"/>
            <a:ext cx="638175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Huéspedes, noches y valor aproximado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0E2F802-70EB-4BB1-A690-82C871EEC943}"/>
              </a:ext>
            </a:extLst>
          </p:cNvPr>
          <p:cNvSpPr>
            <a:spLocks noGrp="1"/>
          </p:cNvSpPr>
          <p:nvPr/>
        </p:nvSpPr>
        <p:spPr>
          <a:xfrm>
            <a:off x="628650" y="4676775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Reservas ordenadas por fecha de llegada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0329ED3-30CE-43C1-9476-A7D7F8DB1196}"/>
              </a:ext>
            </a:extLst>
          </p:cNvPr>
          <p:cNvSpPr>
            <a:spLocks noGrp="1"/>
          </p:cNvSpPr>
          <p:nvPr/>
        </p:nvSpPr>
        <p:spPr>
          <a:xfrm>
            <a:off x="647700" y="5191125"/>
            <a:ext cx="8334375" cy="590550"/>
          </a:xfrm>
          <a:prstGeom prst="rect">
            <a:avLst/>
          </a:prstGeom>
          <a:solidFill>
            <a:srgbClr val="117E83"/>
          </a:solidFill>
          <a:ln w="0">
            <a:noFill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C6E9F3D-637A-4870-BE51-94A7E9D3D7B1}"/>
              </a:ext>
            </a:extLst>
          </p:cNvPr>
          <p:cNvSpPr>
            <a:spLocks noGrp="1"/>
          </p:cNvSpPr>
          <p:nvPr/>
        </p:nvSpPr>
        <p:spPr>
          <a:xfrm>
            <a:off x="8982075" y="5191125"/>
            <a:ext cx="2085975" cy="590550"/>
          </a:xfrm>
          <a:prstGeom prst="rect">
            <a:avLst/>
          </a:prstGeom>
          <a:solidFill>
            <a:srgbClr val="D47C46"/>
          </a:solidFill>
          <a:ln w="0">
            <a:noFill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DBB5C97-F461-41CF-BE8E-D26F62670FF5}"/>
              </a:ext>
            </a:extLst>
          </p:cNvPr>
          <p:cNvSpPr>
            <a:spLocks noGrp="1"/>
          </p:cNvSpPr>
          <p:nvPr/>
        </p:nvSpPr>
        <p:spPr>
          <a:xfrm>
            <a:off x="828675" y="5305425"/>
            <a:ext cx="785812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TRAIN ≈ 80 % · Fechas anteriores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22FF03C-FFED-44CE-BD8D-67256A10B948}"/>
              </a:ext>
            </a:extLst>
          </p:cNvPr>
          <p:cNvSpPr>
            <a:spLocks noGrp="1"/>
          </p:cNvSpPr>
          <p:nvPr/>
        </p:nvSpPr>
        <p:spPr>
          <a:xfrm>
            <a:off x="9077325" y="531495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TEST ≈ 20 %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036A13C-5A5D-49D7-AB2E-3F67A3D8A8C5}"/>
              </a:ext>
            </a:extLst>
          </p:cNvPr>
          <p:cNvSpPr>
            <a:spLocks noGrp="1"/>
          </p:cNvSpPr>
          <p:nvPr/>
        </p:nvSpPr>
        <p:spPr>
          <a:xfrm>
            <a:off x="628650" y="5991225"/>
            <a:ext cx="10382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La variable objetivo se separa; la fecha completa se utiliza para dividir los datos.</a:t>
            </a:r>
          </a:p>
        </p:txBody>
      </p:sp>
    </p:spTree>
    <p:extLst>
      <p:ext uri="{BB962C8B-B14F-4D97-AF65-F5344CB8AC3E}">
        <p14:creationId xmlns:p14="http://schemas.microsoft.com/office/powerpoint/2010/main" val="529142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7A928989-26FC-48F0-B989-0DA0882F0BB2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La validación favorece ligeramente a LightGBM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9560813-CFD3-446F-AC40-AC83E49AB364}"/>
              </a:ext>
            </a:extLst>
          </p:cNvPr>
          <p:cNvSpPr>
            <a:spLocks noGrp="1"/>
          </p:cNvSpPr>
          <p:nvPr/>
        </p:nvSpPr>
        <p:spPr>
          <a:xfrm>
            <a:off x="11191875" y="631507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6F09134-54BE-4436-AD09-D8A691C6D033}"/>
              </a:ext>
            </a:extLst>
          </p:cNvPr>
          <p:cNvSpPr>
            <a:spLocks noGrp="1"/>
          </p:cNvSpPr>
          <p:nvPr/>
        </p:nvSpPr>
        <p:spPr>
          <a:xfrm>
            <a:off x="628650" y="1552575"/>
            <a:ext cx="4857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17E8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17E83"/>
                </a:solidFill>
                <a:latin typeface="Bitstream Charter"/>
                <a:ea typeface="Bitstream Charter"/>
                <a:cs typeface="Bitstream Charter"/>
              </a:rPr>
              <a:t>Comparación inicial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33C39AB-D24A-4FA1-AB7E-CC2A20FE4270}"/>
              </a:ext>
            </a:extLst>
          </p:cNvPr>
          <p:cNvSpPr>
            <a:spLocks noGrp="1"/>
          </p:cNvSpPr>
          <p:nvPr/>
        </p:nvSpPr>
        <p:spPr>
          <a:xfrm>
            <a:off x="628650" y="2152650"/>
            <a:ext cx="4762500" cy="1714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Seis familias de modelos:</a:t>
            </a:r>
          </a:p>
          <a:p>
            <a:pPr>
              <a:defRPr sz="2250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regresión logística, árboles,</a:t>
            </a:r>
          </a:p>
          <a:p>
            <a:pPr>
              <a:defRPr sz="2250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Random Forest, XGBoost,</a:t>
            </a:r>
          </a:p>
          <a:p>
            <a:pPr>
              <a:defRPr sz="2250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LightGBM y SVM.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4A95305-18A6-488D-AB46-E1F3DE72D6E2}"/>
              </a:ext>
            </a:extLst>
          </p:cNvPr>
          <p:cNvSpPr>
            <a:spLocks noGrp="1"/>
          </p:cNvSpPr>
          <p:nvPr/>
        </p:nvSpPr>
        <p:spPr>
          <a:xfrm>
            <a:off x="628650" y="4210050"/>
            <a:ext cx="485775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Candidatos: XGBoost y LightGBM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590F702-3258-414B-8943-EFFB7AFB8342}"/>
              </a:ext>
            </a:extLst>
          </p:cNvPr>
          <p:cNvSpPr>
            <a:spLocks noGrp="1"/>
          </p:cNvSpPr>
          <p:nvPr/>
        </p:nvSpPr>
        <p:spPr>
          <a:xfrm>
            <a:off x="628650" y="5229225"/>
            <a:ext cx="4857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 dirty="0" err="1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Optimización</a:t>
            </a:r>
            <a:r>
              <a:rPr sz="1875" b="0" dirty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875" b="0" dirty="0" err="1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dentro</a:t>
            </a:r>
            <a:r>
              <a:rPr sz="1875" b="0" dirty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 de Train</a:t>
            </a:r>
          </a:p>
          <a:p>
            <a:pPr>
              <a:defRPr sz="1875" b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 dirty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6 </a:t>
            </a:r>
            <a:r>
              <a:rPr sz="1875" b="0" dirty="0" err="1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configuraciones</a:t>
            </a:r>
            <a:r>
              <a:rPr sz="1875" b="0" dirty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 × </a:t>
            </a:r>
            <a:r>
              <a:rPr lang="es-ES" sz="1875" b="0" dirty="0" smtClean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3</a:t>
            </a:r>
            <a:r>
              <a:rPr sz="1875" b="0" dirty="0" smtClean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875" b="0" dirty="0" err="1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periodos</a:t>
            </a:r>
            <a:r>
              <a:rPr sz="1875" b="0" dirty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875" b="0" dirty="0" err="1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por</a:t>
            </a:r>
            <a:r>
              <a:rPr sz="1875" b="0" dirty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875" b="0" dirty="0" err="1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modelo</a:t>
            </a:r>
            <a:endParaRPr sz="1875" b="0" dirty="0">
              <a:solidFill>
                <a:srgbClr val="536773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13CB1E7-6239-4858-BBD1-DB7E53AC95C9}"/>
              </a:ext>
            </a:extLst>
          </p:cNvPr>
          <p:cNvSpPr>
            <a:spLocks noGrp="1"/>
          </p:cNvSpPr>
          <p:nvPr/>
        </p:nvSpPr>
        <p:spPr>
          <a:xfrm>
            <a:off x="6191250" y="1552575"/>
            <a:ext cx="5334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17E8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17E83"/>
                </a:solidFill>
                <a:latin typeface="Bitstream Charter"/>
                <a:ea typeface="Bitstream Charter"/>
                <a:cs typeface="Bitstream Charter"/>
              </a:rPr>
              <a:t>Resultado de la validación temporal</a:t>
            </a:r>
          </a:p>
        </p:txBody>
      </p:sp>
      <p:graphicFrame>
        <p:nvGraphicFramePr>
          <p:cNvPr id="19" name="Tabla 18"/>
          <p:cNvGraphicFramePr/>
          <p:nvPr/>
        </p:nvGraphicFramePr>
        <p:xfrm>
          <a:off x="6191250" y="2200275"/>
          <a:ext cx="5314950" cy="1866900"/>
        </p:xfrm>
        <a:graphic>
          <a:graphicData uri="http://schemas.openxmlformats.org/drawingml/2006/table">
            <a:tbl>
              <a:tblPr/>
              <a:tblGrid>
                <a:gridCol w="217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23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Modelo</a:t>
                      </a:r>
                    </a:p>
                  </a:txBody>
                  <a:tcPr>
                    <a:solidFill>
                      <a:srgbClr val="163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AUC medio</a:t>
                      </a:r>
                    </a:p>
                  </a:txBody>
                  <a:tcPr>
                    <a:solidFill>
                      <a:srgbClr val="163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Desviación</a:t>
                      </a:r>
                    </a:p>
                  </a:txBody>
                  <a:tcPr>
                    <a:solidFill>
                      <a:srgbClr val="163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13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XGBoost</a:t>
                      </a:r>
                    </a:p>
                  </a:txBody>
                  <a:tcPr>
                    <a:solidFill>
                      <a:srgbClr val="F6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13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0,879</a:t>
                      </a:r>
                    </a:p>
                  </a:txBody>
                  <a:tcPr>
                    <a:solidFill>
                      <a:srgbClr val="F6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13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0,033</a:t>
                      </a:r>
                    </a:p>
                  </a:txBody>
                  <a:tcPr>
                    <a:solidFill>
                      <a:srgbClr val="F6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313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LightGBM</a:t>
                      </a:r>
                    </a:p>
                  </a:txBody>
                  <a:tcPr>
                    <a:solidFill>
                      <a:srgbClr val="E0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313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0,881</a:t>
                      </a:r>
                    </a:p>
                  </a:txBody>
                  <a:tcPr>
                    <a:solidFill>
                      <a:srgbClr val="E0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313D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0,022</a:t>
                      </a:r>
                    </a:p>
                  </a:txBody>
                  <a:tcPr>
                    <a:solidFill>
                      <a:srgbClr val="E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ectángulo 8">
            <a:extLst>
              <a:ext uri="{FF2B5EF4-FFF2-40B4-BE49-F238E27FC236}">
                <a16:creationId xmlns:a16="http://schemas.microsoft.com/office/drawing/2014/main" id="{9CD58CDE-536F-46A5-885E-4B52C1DE9E79}"/>
              </a:ext>
            </a:extLst>
          </p:cNvPr>
          <p:cNvSpPr>
            <a:spLocks noGrp="1"/>
          </p:cNvSpPr>
          <p:nvPr/>
        </p:nvSpPr>
        <p:spPr>
          <a:xfrm>
            <a:off x="6191250" y="4448175"/>
            <a:ext cx="5429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117E8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17E83"/>
                </a:solidFill>
                <a:latin typeface="Bitstream Charter"/>
                <a:ea typeface="Bitstream Charter"/>
                <a:cs typeface="Bitstream Charter"/>
              </a:rPr>
              <a:t>LightGBM seleccionado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5CAD34B-214E-40FA-865E-C8028BBA222E}"/>
              </a:ext>
            </a:extLst>
          </p:cNvPr>
          <p:cNvSpPr>
            <a:spLocks noGrp="1"/>
          </p:cNvSpPr>
          <p:nvPr/>
        </p:nvSpPr>
        <p:spPr>
          <a:xfrm>
            <a:off x="6191250" y="5048250"/>
            <a:ext cx="5429250" cy="847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Mayor AUC medio y menor variación</a:t>
            </a:r>
          </a:p>
          <a:p>
            <a:pPr>
              <a:defRPr sz="1950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en los tres periodos analizados.</a:t>
            </a:r>
          </a:p>
        </p:txBody>
      </p:sp>
    </p:spTree>
    <p:extLst>
      <p:ext uri="{BB962C8B-B14F-4D97-AF65-F5344CB8AC3E}">
        <p14:creationId xmlns:p14="http://schemas.microsoft.com/office/powerpoint/2010/main" val="439018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3949A78-407F-4838-9265-D9140667DE20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Qué información utiliza LightGBM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E874F0E-417C-4289-883E-2507F9E84961}"/>
              </a:ext>
            </a:extLst>
          </p:cNvPr>
          <p:cNvSpPr>
            <a:spLocks noGrp="1"/>
          </p:cNvSpPr>
          <p:nvPr/>
        </p:nvSpPr>
        <p:spPr>
          <a:xfrm>
            <a:off x="11191875" y="631507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096F2B1-4C18-414B-9B9D-876BD6CCE34F}"/>
              </a:ext>
            </a:extLst>
          </p:cNvPr>
          <p:cNvSpPr>
            <a:spLocks noGrp="1"/>
          </p:cNvSpPr>
          <p:nvPr/>
        </p:nvSpPr>
        <p:spPr>
          <a:xfrm>
            <a:off x="628650" y="1438275"/>
            <a:ext cx="9048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Caída media del AUC al desordenar cada variable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="609600" y="2019300"/>
          <a:ext cx="7810500" cy="3590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36723257-B187-4533-B222-F04FD66D811F}"/>
              </a:ext>
            </a:extLst>
          </p:cNvPr>
          <p:cNvSpPr>
            <a:spLocks noGrp="1"/>
          </p:cNvSpPr>
          <p:nvPr/>
        </p:nvSpPr>
        <p:spPr>
          <a:xfrm>
            <a:off x="8877300" y="2162175"/>
            <a:ext cx="2667000" cy="1057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117E8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75" b="1">
                <a:solidFill>
                  <a:srgbClr val="117E83"/>
                </a:solidFill>
                <a:latin typeface="Bitstream Charter"/>
                <a:ea typeface="Bitstream Charter"/>
                <a:cs typeface="Bitstream Charter"/>
              </a:rPr>
              <a:t>País, agencia y depósito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6C9CB2A-A44E-4F86-9ED7-59F9B96FF661}"/>
              </a:ext>
            </a:extLst>
          </p:cNvPr>
          <p:cNvSpPr>
            <a:spLocks noGrp="1"/>
          </p:cNvSpPr>
          <p:nvPr/>
        </p:nvSpPr>
        <p:spPr>
          <a:xfrm>
            <a:off x="8877300" y="3476625"/>
            <a:ext cx="2647950" cy="1266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Mayor dependencia</a:t>
            </a:r>
          </a:p>
          <a:p>
            <a:pPr>
              <a:defRPr sz="2100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predictiva en la</a:t>
            </a:r>
          </a:p>
          <a:p>
            <a:pPr>
              <a:defRPr sz="2100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muestra analizada.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2D807E7-0262-40C9-AF5D-D67B5333E277}"/>
              </a:ext>
            </a:extLst>
          </p:cNvPr>
          <p:cNvSpPr>
            <a:spLocks noGrp="1"/>
          </p:cNvSpPr>
          <p:nvPr/>
        </p:nvSpPr>
        <p:spPr>
          <a:xfrm>
            <a:off x="628650" y="5934075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Importancia predictiva no implica causalidad ni dirección del efecto.</a:t>
            </a:r>
          </a:p>
        </p:txBody>
      </p:sp>
    </p:spTree>
    <p:extLst>
      <p:ext uri="{BB962C8B-B14F-4D97-AF65-F5344CB8AC3E}">
        <p14:creationId xmlns:p14="http://schemas.microsoft.com/office/powerpoint/2010/main" val="1680968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2672CCF6-D14E-470E-86A1-BE7556FA394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5375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Un piloto para priorizar el seguimiento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67E3AA0-CEFF-4F51-89D1-ADC6A97958AB}"/>
              </a:ext>
            </a:extLst>
          </p:cNvPr>
          <p:cNvSpPr>
            <a:spLocks noGrp="1"/>
          </p:cNvSpPr>
          <p:nvPr/>
        </p:nvSpPr>
        <p:spPr>
          <a:xfrm>
            <a:off x="11191875" y="631507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4D46922-0EC8-4CBF-9F37-BF6444011008}"/>
              </a:ext>
            </a:extLst>
          </p:cNvPr>
          <p:cNvSpPr>
            <a:spLocks noGrp="1"/>
          </p:cNvSpPr>
          <p:nvPr/>
        </p:nvSpPr>
        <p:spPr>
          <a:xfrm>
            <a:off x="628650" y="163830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17E8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17E83"/>
                </a:solidFill>
                <a:latin typeface="Bitstream Charter"/>
                <a:ea typeface="Bitstream Charter"/>
                <a:cs typeface="Bitstream Charter"/>
              </a:rPr>
              <a:t>Aplicación propuesta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6F4F94C-8824-4C37-857C-CB79F50DAC28}"/>
              </a:ext>
            </a:extLst>
          </p:cNvPr>
          <p:cNvSpPr>
            <a:spLocks noGrp="1"/>
          </p:cNvSpPr>
          <p:nvPr/>
        </p:nvSpPr>
        <p:spPr>
          <a:xfrm>
            <a:off x="628650" y="2390775"/>
            <a:ext cx="5286375" cy="2000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Priorizar reservas según riesgo</a:t>
            </a:r>
          </a:p>
          <a:p>
            <a:pPr>
              <a:defRPr sz="2175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Probar recordatorios y reconfirmaciones</a:t>
            </a:r>
          </a:p>
          <a:p>
            <a:pPr>
              <a:defRPr sz="2175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Comparar con un grupo de control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423ED1A-781C-44CE-B9AF-ADF7946AF90A}"/>
              </a:ext>
            </a:extLst>
          </p:cNvPr>
          <p:cNvSpPr>
            <a:spLocks noGrp="1"/>
          </p:cNvSpPr>
          <p:nvPr/>
        </p:nvSpPr>
        <p:spPr>
          <a:xfrm>
            <a:off x="6762750" y="1638300"/>
            <a:ext cx="481012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17E8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17E83"/>
                </a:solidFill>
                <a:latin typeface="Bitstream Charter"/>
                <a:ea typeface="Bitstream Charter"/>
                <a:cs typeface="Bitstream Charter"/>
              </a:rPr>
              <a:t>Cómo medir el resultado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F736B61-DA38-4D2A-BE50-AA80015DCB45}"/>
              </a:ext>
            </a:extLst>
          </p:cNvPr>
          <p:cNvSpPr>
            <a:spLocks noGrp="1"/>
          </p:cNvSpPr>
          <p:nvPr/>
        </p:nvSpPr>
        <p:spPr>
          <a:xfrm>
            <a:off x="6762750" y="2390775"/>
            <a:ext cx="4667250" cy="2000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Cancelaciones evitadas</a:t>
            </a:r>
          </a:p>
          <a:p>
            <a:pPr>
              <a:defRPr sz="2175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Coste de las intervenciones</a:t>
            </a:r>
          </a:p>
          <a:p>
            <a:pPr>
              <a:defRPr sz="2175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Margen adicional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A461882-9156-477B-9830-2DFF92589172}"/>
              </a:ext>
            </a:extLst>
          </p:cNvPr>
          <p:cNvSpPr>
            <a:spLocks noGrp="1"/>
          </p:cNvSpPr>
          <p:nvPr/>
        </p:nvSpPr>
        <p:spPr>
          <a:xfrm>
            <a:off x="628650" y="4676775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16313D"/>
                </a:solidFill>
                <a:latin typeface="Bitstream Charter"/>
                <a:ea typeface="Bitstream Charter"/>
                <a:cs typeface="Bitstream Charter"/>
              </a:rPr>
              <a:t>Antes de implantar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2BFE40B-6ACE-47C8-BEA3-96BB3405C65A}"/>
              </a:ext>
            </a:extLst>
          </p:cNvPr>
          <p:cNvSpPr>
            <a:spLocks noGrp="1"/>
          </p:cNvSpPr>
          <p:nvPr/>
        </p:nvSpPr>
        <p:spPr>
          <a:xfrm>
            <a:off x="628650" y="5257800"/>
            <a:ext cx="1066800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Validar en nuevos periodos, comprobar las probabilidades</a:t>
            </a:r>
          </a:p>
          <a:p>
            <a:pPr>
              <a:defRPr sz="2175" b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536773"/>
                </a:solidFill>
                <a:latin typeface="Bitstream Charter"/>
                <a:ea typeface="Bitstream Charter"/>
                <a:cs typeface="Bitstream Charter"/>
              </a:rPr>
              <a:t>y ajustar el umbral al coste de actuar.</a:t>
            </a:r>
          </a:p>
        </p:txBody>
      </p:sp>
    </p:spTree>
    <p:extLst>
      <p:ext uri="{BB962C8B-B14F-4D97-AF65-F5344CB8AC3E}">
        <p14:creationId xmlns:p14="http://schemas.microsoft.com/office/powerpoint/2010/main" val="2070061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327</Words>
  <Application>Microsoft Office PowerPoint</Application>
  <DocSecurity>0</DocSecurity>
  <PresentationFormat>Panorámica</PresentationFormat>
  <Paragraphs>81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Bitstream Charter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ALEX</cp:lastModifiedBy>
  <cp:revision>5</cp:revision>
  <dcterms:created xsi:type="dcterms:W3CDTF">2026-09-24T09:53:19Z</dcterms:created>
  <dcterms:modified xsi:type="dcterms:W3CDTF">2026-09-24T16:38:18Z</dcterms:modified>
</cp:coreProperties>
</file>